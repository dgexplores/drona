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9" r:id="rId1"/>
  </p:sldMasterIdLst>
  <p:sldIdLst>
    <p:sldId id="275" r:id="rId2"/>
    <p:sldId id="277" r:id="rId3"/>
    <p:sldId id="280" r:id="rId4"/>
    <p:sldId id="281" r:id="rId5"/>
    <p:sldId id="283" r:id="rId6"/>
    <p:sldId id="284" r:id="rId7"/>
    <p:sldId id="285" r:id="rId8"/>
    <p:sldId id="286" r:id="rId9"/>
    <p:sldId id="287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0" d="100"/>
          <a:sy n="70" d="100"/>
        </p:scale>
        <p:origin x="-744" y="-4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30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91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3884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5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00920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0" y="1600205"/>
            <a:ext cx="7213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0" y="1600205"/>
            <a:ext cx="7213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86063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0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1223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205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77743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3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5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3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06186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379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6615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785600" y="274643"/>
            <a:ext cx="36576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274643"/>
            <a:ext cx="107696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80667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5448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0" r:id="rId1"/>
    <p:sldLayoutId id="2147483841" r:id="rId2"/>
    <p:sldLayoutId id="2147483842" r:id="rId3"/>
    <p:sldLayoutId id="2147483843" r:id="rId4"/>
    <p:sldLayoutId id="2147483844" r:id="rId5"/>
    <p:sldLayoutId id="2147483845" r:id="rId6"/>
    <p:sldLayoutId id="2147483846" r:id="rId7"/>
    <p:sldLayoutId id="2147483847" r:id="rId8"/>
    <p:sldLayoutId id="2147483848" r:id="rId9"/>
    <p:sldLayoutId id="2147483849" r:id="rId10"/>
    <p:sldLayoutId id="2147483850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6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02771464-66E7-68EF-8698-51E89D926646}"/>
              </a:ext>
            </a:extLst>
          </p:cNvPr>
          <p:cNvSpPr/>
          <p:nvPr/>
        </p:nvSpPr>
        <p:spPr>
          <a:xfrm>
            <a:off x="1" y="0"/>
            <a:ext cx="4143737" cy="6858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SRMS Drona Learning WebApp for Non-Teaching Staff</a:t>
            </a:r>
            <a:endParaRPr lang="en-IN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36D8527E-727E-6598-3214-C78654A14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5907" y="169762"/>
            <a:ext cx="2418144" cy="24181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8EA39B5A-789B-F45E-4FB7-7441C6FA61B0}"/>
              </a:ext>
            </a:extLst>
          </p:cNvPr>
          <p:cNvSpPr txBox="1"/>
          <p:nvPr/>
        </p:nvSpPr>
        <p:spPr>
          <a:xfrm>
            <a:off x="4577351" y="2094891"/>
            <a:ext cx="63462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b="1" u="sng" dirty="0">
                <a:latin typeface="Times New Roman" panose="02020603050405020304" pitchFamily="18" charset="0"/>
                <a:ea typeface="Microsoft Sans Serif" panose="020B0604020202020204" pitchFamily="34" charset="0"/>
                <a:cs typeface="Times New Roman" panose="02020603050405020304" pitchFamily="18" charset="0"/>
              </a:rPr>
              <a:t>SRMS Internship Project</a:t>
            </a:r>
          </a:p>
        </p:txBody>
      </p:sp>
      <p:sp>
        <p:nvSpPr>
          <p:cNvPr id="9" name="Minus Sign 8">
            <a:extLst>
              <a:ext uri="{FF2B5EF4-FFF2-40B4-BE49-F238E27FC236}">
                <a16:creationId xmlns:a16="http://schemas.microsoft.com/office/drawing/2014/main" xmlns="" id="{DADCF892-15C8-6799-696B-12A80043F54D}"/>
              </a:ext>
            </a:extLst>
          </p:cNvPr>
          <p:cNvSpPr/>
          <p:nvPr/>
        </p:nvSpPr>
        <p:spPr>
          <a:xfrm>
            <a:off x="4143737" y="3429002"/>
            <a:ext cx="2013995" cy="234387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F7FEB353-0878-8C35-2FCF-35928A3A53F8}"/>
              </a:ext>
            </a:extLst>
          </p:cNvPr>
          <p:cNvSpPr txBox="1"/>
          <p:nvPr/>
        </p:nvSpPr>
        <p:spPr>
          <a:xfrm>
            <a:off x="4360171" y="3842796"/>
            <a:ext cx="713000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 </a:t>
            </a: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Anant Sharma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                                       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Ansh Gupta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Nafeha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Aqueel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                                         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Syeda Raazia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Arsh Yar Khan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Deepak Gangwar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Riya Rastogi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Rajneesh Kumar Singh </a:t>
            </a:r>
            <a:r>
              <a:rPr lang="en-US" dirty="0">
                <a:latin typeface="Times New Roman"/>
                <a:cs typeface="Times New Roman"/>
              </a:rPr>
              <a:t>        </a:t>
            </a:r>
            <a:r>
              <a:rPr lang="en-US" sz="1400" dirty="0">
                <a:latin typeface="Times New Roman"/>
                <a:cs typeface="Times New Roman"/>
              </a:rPr>
              <a:t>                                             </a:t>
            </a:r>
            <a:endParaRPr lang="en-US" dirty="0">
              <a:latin typeface="Times New Roman"/>
              <a:cs typeface="Times New Roman"/>
            </a:endParaRPr>
          </a:p>
          <a:p>
            <a:r>
              <a:rPr lang="en-US" dirty="0">
                <a:latin typeface="Times New Roman"/>
                <a:cs typeface="Times New Roman"/>
              </a:rPr>
              <a:t> </a:t>
            </a:r>
            <a:endParaRPr lang="en-I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46B38348-423E-666E-AB8A-1F9D611FFC33}"/>
              </a:ext>
            </a:extLst>
          </p:cNvPr>
          <p:cNvSpPr txBox="1"/>
          <p:nvPr/>
        </p:nvSpPr>
        <p:spPr>
          <a:xfrm>
            <a:off x="9445909" y="4673792"/>
            <a:ext cx="251995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of: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Ms. Sakshi Goel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Assistant Professor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IT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56555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u="sng" dirty="0" smtClean="0">
                <a:latin typeface="Times New Roman" pitchFamily="18" charset="0"/>
                <a:cs typeface="Times New Roman" pitchFamily="18" charset="0"/>
              </a:rPr>
              <a:t>Problem &amp; Real-World Need</a:t>
            </a:r>
            <a:endParaRPr lang="en-US" sz="4800" u="sng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Staff training resources need a simple,</a:t>
            </a:r>
          </a:p>
          <a:p>
            <a:pPr marL="0" indent="0">
              <a:buNone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 centralized digital platform.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Institutional learning material should be </a:t>
            </a:r>
          </a:p>
          <a:p>
            <a:pPr marL="0" indent="0"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  easy to access on mobile devices.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Courses and quizzes need a structured</a:t>
            </a:r>
          </a:p>
          <a:p>
            <a:pPr marL="0" indent="0"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  digital delivery mechanism.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Learning progress and achievements need </a:t>
            </a:r>
          </a:p>
          <a:p>
            <a:pPr marL="0" indent="0">
              <a:buNone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 proper completion.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Administrators need tools to manage content and monitor participation.</a:t>
            </a:r>
          </a:p>
          <a:p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7543" y="1848306"/>
            <a:ext cx="5229171" cy="2941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737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u="sng" dirty="0" smtClean="0">
                <a:latin typeface="Times New Roman" pitchFamily="18" charset="0"/>
                <a:cs typeface="Times New Roman" pitchFamily="18" charset="0"/>
              </a:rPr>
              <a:t>Our Proposed Solution</a:t>
            </a:r>
            <a:endParaRPr lang="en-US" sz="4800" u="sng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7915" y="1796597"/>
            <a:ext cx="10515600" cy="4351338"/>
          </a:xfrm>
        </p:spPr>
        <p:txBody>
          <a:bodyPr>
            <a:noAutofit/>
          </a:bodyPr>
          <a:lstStyle/>
          <a:p>
            <a:r>
              <a:rPr lang="en-US" sz="2300" b="1" dirty="0" smtClean="0">
                <a:latin typeface="Times New Roman" pitchFamily="18" charset="0"/>
                <a:cs typeface="Times New Roman" pitchFamily="18" charset="0"/>
              </a:rPr>
              <a:t>Staff Learning: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 Digital access to institutional learning resources.</a:t>
            </a:r>
          </a:p>
          <a:p>
            <a:r>
              <a:rPr lang="en-US" sz="2300" b="1" dirty="0" smtClean="0">
                <a:latin typeface="Times New Roman" pitchFamily="18" charset="0"/>
                <a:cs typeface="Times New Roman" pitchFamily="18" charset="0"/>
              </a:rPr>
              <a:t>Course Management: 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Structured courses </a:t>
            </a:r>
          </a:p>
          <a:p>
            <a:pPr marL="0" indent="0">
              <a:buNone/>
            </a:pP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    &amp; learning modules.</a:t>
            </a:r>
          </a:p>
          <a:p>
            <a:r>
              <a:rPr lang="en-US" sz="2300" b="1" dirty="0" smtClean="0">
                <a:latin typeface="Times New Roman" pitchFamily="18" charset="0"/>
                <a:cs typeface="Times New Roman" pitchFamily="18" charset="0"/>
              </a:rPr>
              <a:t>Quiz Management: 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Digital quizzes &amp; assessments.</a:t>
            </a:r>
          </a:p>
          <a:p>
            <a:r>
              <a:rPr lang="en-US" sz="2300" b="1" dirty="0" smtClean="0">
                <a:latin typeface="Times New Roman" pitchFamily="18" charset="0"/>
                <a:cs typeface="Times New Roman" pitchFamily="18" charset="0"/>
              </a:rPr>
              <a:t>Progress Tracking: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 Track learning progress </a:t>
            </a:r>
          </a:p>
          <a:p>
            <a:pPr marL="0" indent="0">
              <a:buNone/>
            </a:pPr>
            <a:r>
              <a:rPr lang="en-US" sz="23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  &amp; achievements.</a:t>
            </a:r>
          </a:p>
          <a:p>
            <a:r>
              <a:rPr lang="en-US" sz="2300" b="1" dirty="0" smtClean="0">
                <a:latin typeface="Times New Roman" pitchFamily="18" charset="0"/>
                <a:cs typeface="Times New Roman" pitchFamily="18" charset="0"/>
              </a:rPr>
              <a:t>Certificate Generation: 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Certificates after successful</a:t>
            </a:r>
          </a:p>
          <a:p>
            <a:pPr marL="0" indent="0">
              <a:buNone/>
            </a:pPr>
            <a:r>
              <a:rPr lang="en-US" sz="23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  completion.</a:t>
            </a:r>
          </a:p>
          <a:p>
            <a:r>
              <a:rPr lang="en-US" sz="2300" b="1" dirty="0" smtClean="0">
                <a:latin typeface="Times New Roman" pitchFamily="18" charset="0"/>
                <a:cs typeface="Times New Roman" pitchFamily="18" charset="0"/>
              </a:rPr>
              <a:t>Notifications: 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Keep staff informed about their performance.</a:t>
            </a:r>
          </a:p>
          <a:p>
            <a:r>
              <a:rPr lang="en-US" sz="2300" b="1" dirty="0" smtClean="0">
                <a:latin typeface="Times New Roman" pitchFamily="18" charset="0"/>
                <a:cs typeface="Times New Roman" pitchFamily="18" charset="0"/>
              </a:rPr>
              <a:t>Role-Based Administration: 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Controlled management for administrators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0688" y="2314117"/>
            <a:ext cx="4673599" cy="262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7923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u="sng" dirty="0" smtClean="0">
                <a:latin typeface="Times New Roman" pitchFamily="18" charset="0"/>
                <a:cs typeface="Times New Roman" pitchFamily="18" charset="0"/>
              </a:rPr>
              <a:t>How Our Solution Works</a:t>
            </a:r>
            <a:endParaRPr lang="en-US" sz="4800" u="sng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08" r="16394"/>
          <a:stretch/>
        </p:blipFill>
        <p:spPr>
          <a:xfrm>
            <a:off x="587971" y="1548188"/>
            <a:ext cx="2206029" cy="18966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2872" y="3435161"/>
            <a:ext cx="1756229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Times New Roman" pitchFamily="18" charset="0"/>
                <a:cs typeface="Times New Roman" pitchFamily="18" charset="0"/>
              </a:rPr>
              <a:t>Employee Login</a:t>
            </a:r>
            <a:endParaRPr lang="en-US" sz="1600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94" r="6127"/>
          <a:stretch/>
        </p:blipFill>
        <p:spPr>
          <a:xfrm>
            <a:off x="3367312" y="1726571"/>
            <a:ext cx="2110856" cy="152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50282" y="3404076"/>
            <a:ext cx="1944915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Assigned Courses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55" t="13384" r="15449" b="9342"/>
          <a:stretch/>
        </p:blipFill>
        <p:spPr>
          <a:xfrm>
            <a:off x="6159304" y="1650022"/>
            <a:ext cx="2301897" cy="1677097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32" t="6595" r="10627" b="9707"/>
          <a:stretch/>
        </p:blipFill>
        <p:spPr>
          <a:xfrm>
            <a:off x="8984343" y="1711767"/>
            <a:ext cx="2478257" cy="15536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83" t="6442" r="7400" b="14526"/>
          <a:stretch/>
        </p:blipFill>
        <p:spPr>
          <a:xfrm>
            <a:off x="8105294" y="4290324"/>
            <a:ext cx="2525860" cy="128906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48460" y="5849257"/>
            <a:ext cx="3439528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Progress Tracking &amp; Auto-Saved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368224" y="3419772"/>
            <a:ext cx="1669143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Digital Quizzes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349835" y="3281272"/>
            <a:ext cx="2053562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Learning Content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11970" y="6054912"/>
            <a:ext cx="2395186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Successful Completion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284657" y="6003330"/>
            <a:ext cx="2314886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Certificates with QR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21" t="9822" r="10123" b="14048"/>
          <a:stretch/>
        </p:blipFill>
        <p:spPr>
          <a:xfrm>
            <a:off x="4132674" y="4290324"/>
            <a:ext cx="2953778" cy="157787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333" t="7192" r="20392" b="21630"/>
          <a:stretch/>
        </p:blipFill>
        <p:spPr>
          <a:xfrm>
            <a:off x="1382697" y="4246185"/>
            <a:ext cx="1923002" cy="1661474"/>
          </a:xfrm>
          <a:prstGeom prst="rect">
            <a:avLst/>
          </a:prstGeom>
        </p:spPr>
      </p:pic>
      <p:cxnSp>
        <p:nvCxnSpPr>
          <p:cNvPr id="21" name="Straight Arrow Connector 20"/>
          <p:cNvCxnSpPr>
            <a:stCxn id="3" idx="3"/>
            <a:endCxn id="5" idx="1"/>
          </p:cNvCxnSpPr>
          <p:nvPr/>
        </p:nvCxnSpPr>
        <p:spPr>
          <a:xfrm flipV="1">
            <a:off x="2794000" y="2488571"/>
            <a:ext cx="573312" cy="794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5" idx="3"/>
            <a:endCxn id="8" idx="1"/>
          </p:cNvCxnSpPr>
          <p:nvPr/>
        </p:nvCxnSpPr>
        <p:spPr>
          <a:xfrm>
            <a:off x="5478168" y="2488571"/>
            <a:ext cx="68113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8461201" y="2496565"/>
            <a:ext cx="653770" cy="794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9826171" y="3789104"/>
            <a:ext cx="0" cy="50122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endCxn id="16" idx="3"/>
          </p:cNvCxnSpPr>
          <p:nvPr/>
        </p:nvCxnSpPr>
        <p:spPr>
          <a:xfrm flipH="1">
            <a:off x="7086452" y="5076922"/>
            <a:ext cx="1018842" cy="233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16" idx="1"/>
          </p:cNvCxnSpPr>
          <p:nvPr/>
        </p:nvCxnSpPr>
        <p:spPr>
          <a:xfrm flipH="1">
            <a:off x="3080656" y="5079260"/>
            <a:ext cx="105201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71655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 smtClean="0">
                <a:latin typeface="Times New Roman" pitchFamily="18" charset="0"/>
                <a:cs typeface="Times New Roman" pitchFamily="18" charset="0"/>
              </a:rPr>
              <a:t>Key Innovations &amp; USP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 rot="10800000" flipH="1" flipV="1">
            <a:off x="2090234" y="5754151"/>
            <a:ext cx="3633843" cy="864363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sz="2100" b="1" dirty="0" smtClean="0">
                <a:latin typeface="Times New Roman" pitchFamily="18" charset="0"/>
                <a:cs typeface="Times New Roman" pitchFamily="18" charset="0"/>
              </a:rPr>
              <a:t>Institution Specific</a:t>
            </a:r>
            <a:r>
              <a:rPr lang="en-US" sz="2100" dirty="0" smtClean="0">
                <a:latin typeface="Times New Roman" pitchFamily="18" charset="0"/>
                <a:cs typeface="Times New Roman" pitchFamily="18" charset="0"/>
              </a:rPr>
              <a:t>: Focused on internal organizational training</a:t>
            </a:r>
            <a:endParaRPr lang="en-US" sz="2100" dirty="0" smtClean="0"/>
          </a:p>
          <a:p>
            <a:pPr marL="0" indent="0">
              <a:buNone/>
            </a:pPr>
            <a:endParaRPr lang="en-US" sz="2100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55" t="10506" r="71496" b="53875"/>
          <a:stretch/>
        </p:blipFill>
        <p:spPr>
          <a:xfrm>
            <a:off x="1367255" y="986970"/>
            <a:ext cx="1743835" cy="197067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14" t="10763" r="41481" b="53875"/>
          <a:stretch/>
        </p:blipFill>
        <p:spPr>
          <a:xfrm>
            <a:off x="3953334" y="1393371"/>
            <a:ext cx="1770743" cy="20029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953334" y="3514572"/>
            <a:ext cx="22587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itchFamily="18" charset="0"/>
                <a:cs typeface="Times New Roman" pitchFamily="18" charset="0"/>
              </a:rPr>
              <a:t>User Experience: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Simple and intuitive.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361" t="11020" r="10746" b="53618"/>
          <a:stretch/>
        </p:blipFill>
        <p:spPr>
          <a:xfrm>
            <a:off x="6502393" y="1393370"/>
            <a:ext cx="1799773" cy="20029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02386" y="3503062"/>
            <a:ext cx="23513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itchFamily="18" charset="0"/>
                <a:cs typeface="Times New Roman" pitchFamily="18" charset="0"/>
              </a:rPr>
              <a:t>Language Support: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 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Hindi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+ English</a:t>
            </a:r>
          </a:p>
          <a:p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89" t="53136" r="69764" b="11594"/>
          <a:stretch/>
        </p:blipFill>
        <p:spPr>
          <a:xfrm>
            <a:off x="8911772" y="959920"/>
            <a:ext cx="2046514" cy="19977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20629" y="3041397"/>
            <a:ext cx="2438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itchFamily="18" charset="0"/>
                <a:cs typeface="Times New Roman" pitchFamily="18" charset="0"/>
              </a:rPr>
              <a:t>Access Control: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Role based administration.</a:t>
            </a:r>
          </a:p>
          <a:p>
            <a:endParaRPr lang="en-US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459" t="51605" r="10676" b="10661"/>
          <a:stretch/>
        </p:blipFill>
        <p:spPr>
          <a:xfrm>
            <a:off x="8527144" y="3885661"/>
            <a:ext cx="1560285" cy="186849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130" t="52446" r="38435" b="11586"/>
          <a:stretch/>
        </p:blipFill>
        <p:spPr>
          <a:xfrm>
            <a:off x="2239172" y="3964727"/>
            <a:ext cx="1807814" cy="171035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66735" y="5860000"/>
            <a:ext cx="3512457" cy="9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itchFamily="18" charset="0"/>
                <a:cs typeface="Times New Roman" pitchFamily="18" charset="0"/>
              </a:rPr>
              <a:t>All-in-One Platform: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Learning + Quizzes +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Certificates with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QR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+ Notifications</a:t>
            </a: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9774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u="sng" dirty="0" smtClean="0">
                <a:latin typeface="Times New Roman" pitchFamily="18" charset="0"/>
                <a:cs typeface="Times New Roman" pitchFamily="18" charset="0"/>
              </a:rPr>
              <a:t>System Architecture</a:t>
            </a:r>
            <a:endParaRPr lang="en-US" sz="4800" u="sng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682387" y="1204293"/>
            <a:ext cx="10922843" cy="5237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0910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u="sng" dirty="0" smtClean="0">
                <a:latin typeface="Times New Roman" pitchFamily="18" charset="0"/>
                <a:cs typeface="Times New Roman" pitchFamily="18" charset="0"/>
              </a:rPr>
              <a:t>AI-Assisted Assessment Generation</a:t>
            </a:r>
            <a:endParaRPr lang="en-US" sz="4800" u="sng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2846000" y="1380000"/>
            <a:ext cx="6500000" cy="25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65027" y="3912246"/>
            <a:ext cx="1992572" cy="40011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SOP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3010" y="3912246"/>
            <a:ext cx="1828800" cy="40011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Gemini Model</a:t>
            </a:r>
            <a:endParaRPr lang="en-US" sz="20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456415" y="3880289"/>
            <a:ext cx="3543682" cy="40011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 err="1" smtClean="0">
                <a:latin typeface="Times New Roman" pitchFamily="18" charset="0"/>
                <a:cs typeface="Times New Roman" pitchFamily="18" charset="0"/>
              </a:rPr>
              <a:t>Generated </a:t>
            </a: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 MCQs</a:t>
            </a:r>
            <a:endParaRPr lang="en-US" sz="20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01003" y="4844955"/>
            <a:ext cx="2579428" cy="12003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INPUT: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 xml:space="preserve">Uploaded SOP PDF,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 xml:space="preserve">or pasted SOP text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from the institute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35773" y="4706455"/>
            <a:ext cx="2279175" cy="14773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MODEL:</a:t>
            </a: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Google Gemini writes questions, answer keys and explanations.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06770" y="4844955"/>
            <a:ext cx="2183642" cy="12003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OUTPUT:</a:t>
            </a:r>
          </a:p>
          <a:p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Generated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administrator reviews and edits.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9224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5086" y="260124"/>
            <a:ext cx="10972800" cy="1143000"/>
          </a:xfrm>
        </p:spPr>
        <p:txBody>
          <a:bodyPr>
            <a:normAutofit/>
          </a:bodyPr>
          <a:lstStyle/>
          <a:p>
            <a:r>
              <a:rPr lang="en-US" sz="4800" u="sng" dirty="0" smtClean="0">
                <a:latin typeface="Times New Roman" pitchFamily="18" charset="0"/>
                <a:cs typeface="Times New Roman" pitchFamily="18" charset="0"/>
              </a:rPr>
              <a:t>Feasibility, Impact &amp; Deployment</a:t>
            </a:r>
            <a:endParaRPr lang="en-US" sz="4800" u="sng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2171" y="2148114"/>
            <a:ext cx="3512457" cy="4093029"/>
          </a:xfrm>
        </p:spPr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Established, well-documented</a:t>
            </a: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technologies (Django,</a:t>
            </a: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PostgreSQL). Modular design.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9429" y="2134306"/>
            <a:ext cx="3643086" cy="4151084"/>
          </a:xfrm>
        </p:spPr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Digital Staff Training.</a:t>
            </a: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Easy Resource Access.</a:t>
            </a: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Progress &amp; Achievement Tracking.</a:t>
            </a: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Digital Certificates.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Content Placeholder 3"/>
          <p:cNvSpPr txBox="1">
            <a:spLocks/>
          </p:cNvSpPr>
          <p:nvPr/>
        </p:nvSpPr>
        <p:spPr>
          <a:xfrm>
            <a:off x="4666343" y="1752604"/>
            <a:ext cx="3643086" cy="47135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986973" y="1611086"/>
            <a:ext cx="20029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Feasibility:</a:t>
            </a:r>
            <a:endParaRPr lang="en-US" sz="2800" b="1" u="sng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869543" y="1611086"/>
            <a:ext cx="21045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Impact:</a:t>
            </a:r>
            <a:endParaRPr lang="en-US" sz="2800" b="1" u="sng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380000" y="1590000"/>
            <a:ext cx="345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Deployed &amp; Verified:</a:t>
            </a:r>
            <a:endParaRPr lang="en-US" sz="2800" b="1" u="sng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84457" y="2160000"/>
            <a:ext cx="3450000" cy="34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Live on cloud hosting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with CI/CD on every push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203 automated tests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0 known advisories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3 vulnerabilities found &amp; fixed</a:t>
            </a:r>
          </a:p>
        </p:txBody>
      </p:sp>
    </p:spTree>
    <p:extLst>
      <p:ext uri="{BB962C8B-B14F-4D97-AF65-F5344CB8AC3E}">
        <p14:creationId xmlns:p14="http://schemas.microsoft.com/office/powerpoint/2010/main" val="31403865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u="sng" dirty="0" smtClean="0">
                <a:latin typeface="Times New Roman" pitchFamily="18" charset="0"/>
                <a:cs typeface="Times New Roman" pitchFamily="18" charset="0"/>
              </a:rPr>
              <a:t>Why Our Solution?</a:t>
            </a:r>
            <a:endParaRPr lang="en-US" sz="4800" u="sng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Generic LMS: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General audience.</a:t>
            </a:r>
          </a:p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Standard experience.</a:t>
            </a:r>
          </a:p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Usually single language.</a:t>
            </a:r>
          </a:p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Separate tools.</a:t>
            </a:r>
          </a:p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Generic administration.</a:t>
            </a:r>
            <a:endParaRPr lang="en-US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8855" y="1491570"/>
            <a:ext cx="5389033" cy="639762"/>
          </a:xfrm>
        </p:spPr>
        <p:txBody>
          <a:bodyPr>
            <a:normAutofit/>
          </a:bodyPr>
          <a:lstStyle/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SRMS </a:t>
            </a:r>
            <a:r>
              <a:rPr lang="en-US" sz="2000" dirty="0" err="1" smtClean="0">
                <a:latin typeface="Times New Roman" pitchFamily="18" charset="0"/>
                <a:cs typeface="Times New Roman" pitchFamily="18" charset="0"/>
              </a:rPr>
              <a:t>Drona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:</a:t>
            </a:r>
            <a:endParaRPr lang="en-US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SRMS specific.</a:t>
            </a:r>
          </a:p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Mobile first.</a:t>
            </a:r>
          </a:p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Hindi + English language.</a:t>
            </a:r>
          </a:p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All in one tools.</a:t>
            </a:r>
          </a:p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Role based administration.</a:t>
            </a:r>
            <a:endParaRPr lang="en-US" sz="20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8" name="Screenshot Hindi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112616" y="4133088"/>
            <a:ext cx="3966464" cy="2231136"/>
          </a:xfrm>
          <a:prstGeom prst="rect">
            <a:avLst/>
          </a:prstGeom>
        </p:spPr>
      </p:pic>
      <p:sp>
        <p:nvSpPr>
          <p:cNvPr id="10" name="Cap10"/>
          <p:cNvSpPr txBox="1"/>
          <p:nvPr/>
        </p:nvSpPr>
        <p:spPr>
          <a:xfrm>
            <a:off x="2712568" y="6446520"/>
            <a:ext cx="6766560" cy="310896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/>
            <a:r>
              <a:rPr lang="en-US" sz="1400" b="1" dirty="0">
                <a:latin typeface="Arial"/>
                <a:cs typeface="Arial"/>
              </a:rPr>
              <a:t>Drona dashboard in हिन्दी — same tool, no separate build</a:t>
            </a:r>
          </a:p>
        </p:txBody>
      </p:sp>
    </p:spTree>
    <p:extLst>
      <p:ext uri="{BB962C8B-B14F-4D97-AF65-F5344CB8AC3E}">
        <p14:creationId xmlns:p14="http://schemas.microsoft.com/office/powerpoint/2010/main" val="27567731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80113915-5B66-869B-3886-3094FCA844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51" y="933450"/>
            <a:ext cx="7048500" cy="499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0849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1682</TotalTime>
  <Words>354</Words>
  <Application>Microsoft Office PowerPoint</Application>
  <PresentationFormat>Custom</PresentationFormat>
  <Paragraphs>94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 Theme</vt:lpstr>
      <vt:lpstr>PowerPoint Presentation</vt:lpstr>
      <vt:lpstr>Problem &amp; Real-World Need</vt:lpstr>
      <vt:lpstr>Our Proposed Solution</vt:lpstr>
      <vt:lpstr>How Our Solution Works</vt:lpstr>
      <vt:lpstr>Key Innovations &amp; USP</vt:lpstr>
      <vt:lpstr>System Architecture</vt:lpstr>
      <vt:lpstr>AI/ML Methodology</vt:lpstr>
      <vt:lpstr>Feasibility, Impact &amp; Scalability</vt:lpstr>
      <vt:lpstr>Why Our Solution?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Syeda Raazia</dc:creator>
  <cp:lastModifiedBy>Hp</cp:lastModifiedBy>
  <cp:revision>39</cp:revision>
  <dcterms:created xsi:type="dcterms:W3CDTF">2026-08-01T18:41:21Z</dcterms:created>
  <dcterms:modified xsi:type="dcterms:W3CDTF">2026-09-24T16:44:15Z</dcterms:modified>
</cp:coreProperties>
</file>