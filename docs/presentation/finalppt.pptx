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9" r:id="rId1"/>
  </p:sldMasterIdLst>
  <p:sldIdLst>
    <p:sldId id="275" r:id="rId2"/>
    <p:sldId id="277" r:id="rId3"/>
    <p:sldId id="280" r:id="rId4"/>
    <p:sldId id="281" r:id="rId5"/>
    <p:sldId id="283" r:id="rId6"/>
    <p:sldId id="284" r:id="rId7"/>
    <p:sldId id="285" r:id="rId8"/>
    <p:sldId id="286" r:id="rId9"/>
    <p:sldId id="287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0" d="100"/>
          <a:sy n="70" d="100"/>
        </p:scale>
        <p:origin x="-744" y="-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30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91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884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5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0092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600205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1600205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86063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0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1223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20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7774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5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0618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79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6615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85600" y="274643"/>
            <a:ext cx="36576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274643"/>
            <a:ext cx="107696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8066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5448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  <p:sldLayoutId id="2147483841" r:id="rId2"/>
    <p:sldLayoutId id="2147483842" r:id="rId3"/>
    <p:sldLayoutId id="2147483843" r:id="rId4"/>
    <p:sldLayoutId id="2147483844" r:id="rId5"/>
    <p:sldLayoutId id="2147483845" r:id="rId6"/>
    <p:sldLayoutId id="2147483846" r:id="rId7"/>
    <p:sldLayoutId id="2147483847" r:id="rId8"/>
    <p:sldLayoutId id="2147483848" r:id="rId9"/>
    <p:sldLayoutId id="2147483849" r:id="rId10"/>
    <p:sldLayoutId id="2147483850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2771464-66E7-68EF-8698-51E89D926646}"/>
              </a:ext>
            </a:extLst>
          </p:cNvPr>
          <p:cNvSpPr/>
          <p:nvPr/>
        </p:nvSpPr>
        <p:spPr>
          <a:xfrm>
            <a:off x="1" y="0"/>
            <a:ext cx="4143737" cy="6858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SRMS Drona Learning WebApp for Non-Teaching Staff</a:t>
            </a:r>
            <a:endParaRPr lang="en-IN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6D8527E-727E-6598-3214-C78654A14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907" y="169762"/>
            <a:ext cx="2418144" cy="24181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EA39B5A-789B-F45E-4FB7-7441C6FA61B0}"/>
              </a:ext>
            </a:extLst>
          </p:cNvPr>
          <p:cNvSpPr txBox="1"/>
          <p:nvPr/>
        </p:nvSpPr>
        <p:spPr>
          <a:xfrm>
            <a:off x="4577351" y="2094891"/>
            <a:ext cx="63462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u="sng" dirty="0">
                <a:latin typeface="Times New Roman" panose="02020603050405020304" pitchFamily="18" charset="0"/>
                <a:ea typeface="Microsoft Sans Serif" panose="020B0604020202020204" pitchFamily="34" charset="0"/>
                <a:cs typeface="Times New Roman" panose="02020603050405020304" pitchFamily="18" charset="0"/>
              </a:rPr>
              <a:t>SRMS Internship Project</a:t>
            </a:r>
          </a:p>
        </p:txBody>
      </p:sp>
      <p:sp>
        <p:nvSpPr>
          <p:cNvPr id="9" name="Minus Sign 8">
            <a:extLst>
              <a:ext uri="{FF2B5EF4-FFF2-40B4-BE49-F238E27FC236}">
                <a16:creationId xmlns:a16="http://schemas.microsoft.com/office/drawing/2014/main" xmlns="" id="{DADCF892-15C8-6799-696B-12A80043F54D}"/>
              </a:ext>
            </a:extLst>
          </p:cNvPr>
          <p:cNvSpPr/>
          <p:nvPr/>
        </p:nvSpPr>
        <p:spPr>
          <a:xfrm>
            <a:off x="4143737" y="3429002"/>
            <a:ext cx="2013995" cy="234387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7FEB353-0878-8C35-2FCF-35928A3A53F8}"/>
              </a:ext>
            </a:extLst>
          </p:cNvPr>
          <p:cNvSpPr txBox="1"/>
          <p:nvPr/>
        </p:nvSpPr>
        <p:spPr>
          <a:xfrm>
            <a:off x="4360171" y="3842796"/>
            <a:ext cx="713000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 </a:t>
            </a: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Anant Sharma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                                       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Ansh Gupta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Nafeha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Aqueel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                                         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Syeda Raazia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Arsh Yar Khan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Deepak Gangwar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Riya Rastogi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Rajneesh Kumar Singh </a:t>
            </a:r>
            <a:r>
              <a:rPr lang="en-US" dirty="0">
                <a:latin typeface="Times New Roman"/>
                <a:cs typeface="Times New Roman"/>
              </a:rPr>
              <a:t>        </a:t>
            </a:r>
            <a:r>
              <a:rPr lang="en-US" sz="1400" dirty="0">
                <a:latin typeface="Times New Roman"/>
                <a:cs typeface="Times New Roman"/>
              </a:rPr>
              <a:t>                                             </a:t>
            </a:r>
            <a:endParaRPr lang="en-US" dirty="0">
              <a:latin typeface="Times New Roman"/>
              <a:cs typeface="Times New Roman"/>
            </a:endParaRPr>
          </a:p>
          <a:p>
            <a:r>
              <a:rPr lang="en-US" dirty="0">
                <a:latin typeface="Times New Roman"/>
                <a:cs typeface="Times New Roman"/>
              </a:rPr>
              <a:t> </a:t>
            </a:r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46B38348-423E-666E-AB8A-1F9D611FFC33}"/>
              </a:ext>
            </a:extLst>
          </p:cNvPr>
          <p:cNvSpPr txBox="1"/>
          <p:nvPr/>
        </p:nvSpPr>
        <p:spPr>
          <a:xfrm>
            <a:off x="9445909" y="4673792"/>
            <a:ext cx="25199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of: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Ms. Sakshi Goel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IT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6555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Problem &amp; Real-World Need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Staff training resources need a simple,</a:t>
            </a:r>
          </a:p>
          <a:p>
            <a:pPr marL="0" indent="0">
              <a:buNone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centralized digital platform.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Institutional learning material should be </a:t>
            </a:r>
          </a:p>
          <a:p>
            <a:pPr marL="0" indent="0"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 easy to access on mobile devices.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Courses and quizzes need a structured</a:t>
            </a:r>
          </a:p>
          <a:p>
            <a:pPr marL="0" indent="0"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 digital delivery mechanism.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Learning progress and achievements need </a:t>
            </a:r>
          </a:p>
          <a:p>
            <a:pPr marL="0" indent="0">
              <a:buNone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proper completion.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Administrators need tools to manage content and monitor participation.</a:t>
            </a:r>
          </a:p>
          <a:p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7543" y="1848306"/>
            <a:ext cx="5229171" cy="294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73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Our Proposed Solution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7915" y="1796597"/>
            <a:ext cx="10515600" cy="4351338"/>
          </a:xfrm>
        </p:spPr>
        <p:txBody>
          <a:bodyPr>
            <a:noAutofit/>
          </a:bodyPr>
          <a:lstStyle/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Staff Learning: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Digital access to institutional learning resources.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Course Management: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Structured courses </a:t>
            </a:r>
          </a:p>
          <a:p>
            <a:pPr marL="0" indent="0">
              <a:buNone/>
            </a:pP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   &amp; learning modules.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Quiz Management: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Digital quizzes &amp; assessments.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Progress Tracking: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Track learning progress </a:t>
            </a:r>
          </a:p>
          <a:p>
            <a:pPr marL="0" indent="0">
              <a:buNone/>
            </a:pPr>
            <a:r>
              <a:rPr lang="en-US" sz="23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 &amp; achievements.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Certificate Generation: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Certificates after successful</a:t>
            </a:r>
          </a:p>
          <a:p>
            <a:pPr marL="0" indent="0">
              <a:buNone/>
            </a:pPr>
            <a:r>
              <a:rPr lang="en-US" sz="23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 completion.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Notifications: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Keep staff informed about their performance.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Role-Based Administration: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Controlled management for administrators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0688" y="2314117"/>
            <a:ext cx="4673599" cy="262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792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How Our Solution Works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08" r="16394"/>
          <a:stretch/>
        </p:blipFill>
        <p:spPr>
          <a:xfrm>
            <a:off x="587971" y="1548188"/>
            <a:ext cx="2206029" cy="18966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2872" y="3435161"/>
            <a:ext cx="1756229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Employee Login</a:t>
            </a:r>
            <a:endParaRPr lang="en-US" sz="16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4" r="6127"/>
          <a:stretch/>
        </p:blipFill>
        <p:spPr>
          <a:xfrm>
            <a:off x="3367312" y="1726571"/>
            <a:ext cx="2110856" cy="152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50282" y="3404076"/>
            <a:ext cx="1944915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Assigned Courses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55" t="13384" r="15449" b="9342"/>
          <a:stretch/>
        </p:blipFill>
        <p:spPr>
          <a:xfrm>
            <a:off x="6159304" y="1650022"/>
            <a:ext cx="2301897" cy="167709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32" t="6595" r="10627" b="9707"/>
          <a:stretch/>
        </p:blipFill>
        <p:spPr>
          <a:xfrm>
            <a:off x="8984343" y="1711767"/>
            <a:ext cx="2478257" cy="15536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3" t="6442" r="7400" b="14526"/>
          <a:stretch/>
        </p:blipFill>
        <p:spPr>
          <a:xfrm>
            <a:off x="8105294" y="4290324"/>
            <a:ext cx="2525860" cy="128906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48460" y="5849257"/>
            <a:ext cx="343952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Progress Tracking &amp; Auto-Saved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68224" y="3419772"/>
            <a:ext cx="1669143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Digital Quizzes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49835" y="3281272"/>
            <a:ext cx="2053562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Learning Content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11970" y="6054912"/>
            <a:ext cx="239518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Successful Completion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284657" y="6003330"/>
            <a:ext cx="231488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Certificates with QR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21" t="9822" r="10123" b="14048"/>
          <a:stretch/>
        </p:blipFill>
        <p:spPr>
          <a:xfrm>
            <a:off x="4132674" y="4290324"/>
            <a:ext cx="2953778" cy="15778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33" t="7192" r="20392" b="21630"/>
          <a:stretch/>
        </p:blipFill>
        <p:spPr>
          <a:xfrm>
            <a:off x="1382697" y="4246185"/>
            <a:ext cx="1923002" cy="1661474"/>
          </a:xfrm>
          <a:prstGeom prst="rect">
            <a:avLst/>
          </a:prstGeom>
        </p:spPr>
      </p:pic>
      <p:cxnSp>
        <p:nvCxnSpPr>
          <p:cNvPr id="21" name="Straight Arrow Connector 20"/>
          <p:cNvCxnSpPr>
            <a:stCxn id="3" idx="3"/>
            <a:endCxn id="5" idx="1"/>
          </p:cNvCxnSpPr>
          <p:nvPr/>
        </p:nvCxnSpPr>
        <p:spPr>
          <a:xfrm flipV="1">
            <a:off x="2794000" y="2488571"/>
            <a:ext cx="573312" cy="79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5" idx="3"/>
            <a:endCxn id="8" idx="1"/>
          </p:cNvCxnSpPr>
          <p:nvPr/>
        </p:nvCxnSpPr>
        <p:spPr>
          <a:xfrm>
            <a:off x="5478168" y="2488571"/>
            <a:ext cx="6811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8461201" y="2496565"/>
            <a:ext cx="653770" cy="79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9826171" y="3789104"/>
            <a:ext cx="0" cy="5012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endCxn id="16" idx="3"/>
          </p:cNvCxnSpPr>
          <p:nvPr/>
        </p:nvCxnSpPr>
        <p:spPr>
          <a:xfrm flipH="1">
            <a:off x="7086452" y="5076922"/>
            <a:ext cx="1018842" cy="233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6" idx="1"/>
          </p:cNvCxnSpPr>
          <p:nvPr/>
        </p:nvCxnSpPr>
        <p:spPr>
          <a:xfrm flipH="1">
            <a:off x="3080656" y="5079260"/>
            <a:ext cx="105201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165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 smtClean="0">
                <a:latin typeface="Times New Roman" pitchFamily="18" charset="0"/>
                <a:cs typeface="Times New Roman" pitchFamily="18" charset="0"/>
              </a:rPr>
              <a:t>Key Innovations &amp; USP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 rot="10800000" flipH="1" flipV="1">
            <a:off x="2090234" y="5754151"/>
            <a:ext cx="3633843" cy="86436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100" b="1" dirty="0" smtClean="0">
                <a:latin typeface="Times New Roman" pitchFamily="18" charset="0"/>
                <a:cs typeface="Times New Roman" pitchFamily="18" charset="0"/>
              </a:rPr>
              <a:t>Institution Specific</a:t>
            </a:r>
            <a:r>
              <a:rPr lang="en-US" sz="2100" dirty="0" smtClean="0">
                <a:latin typeface="Times New Roman" pitchFamily="18" charset="0"/>
                <a:cs typeface="Times New Roman" pitchFamily="18" charset="0"/>
              </a:rPr>
              <a:t>: Focused on internal organizational training</a:t>
            </a:r>
            <a:endParaRPr lang="en-US" sz="2100" dirty="0" smtClean="0"/>
          </a:p>
          <a:p>
            <a:pPr marL="0" indent="0">
              <a:buNone/>
            </a:pPr>
            <a:endParaRPr lang="en-US" sz="2100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506" r="71496" b="53875"/>
          <a:stretch/>
        </p:blipFill>
        <p:spPr>
          <a:xfrm>
            <a:off x="1367255" y="986970"/>
            <a:ext cx="1743835" cy="19706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14" t="10763" r="41481" b="53875"/>
          <a:stretch/>
        </p:blipFill>
        <p:spPr>
          <a:xfrm>
            <a:off x="3953334" y="1393371"/>
            <a:ext cx="1770743" cy="20029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953334" y="3514572"/>
            <a:ext cx="22587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User Experience: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Simple and intuitive.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61" t="11020" r="10746" b="53618"/>
          <a:stretch/>
        </p:blipFill>
        <p:spPr>
          <a:xfrm>
            <a:off x="6502393" y="1393370"/>
            <a:ext cx="1799773" cy="20029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02386" y="3503062"/>
            <a:ext cx="23513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Language Support: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Hindi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+ English</a:t>
            </a:r>
          </a:p>
          <a:p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89" t="53136" r="69764" b="11594"/>
          <a:stretch/>
        </p:blipFill>
        <p:spPr>
          <a:xfrm>
            <a:off x="8911772" y="959920"/>
            <a:ext cx="2046514" cy="19977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20629" y="3041397"/>
            <a:ext cx="243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Access Control: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Role based administration.</a:t>
            </a:r>
          </a:p>
          <a:p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459" t="51605" r="10676" b="10661"/>
          <a:stretch/>
        </p:blipFill>
        <p:spPr>
          <a:xfrm>
            <a:off x="8527144" y="3885661"/>
            <a:ext cx="1560285" cy="186849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130" t="52446" r="38435" b="11586"/>
          <a:stretch/>
        </p:blipFill>
        <p:spPr>
          <a:xfrm>
            <a:off x="2239172" y="3964727"/>
            <a:ext cx="1807814" cy="171035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6735" y="5860000"/>
            <a:ext cx="3512457" cy="9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All-in-One Platform: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Learning + Quizzes +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Certificates with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QR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+ Notifications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9774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System Architecture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682387" y="1204293"/>
            <a:ext cx="10922843" cy="5237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0910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AI-Assisted Assessment Generation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2846000" y="1380000"/>
            <a:ext cx="6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65027" y="3912246"/>
            <a:ext cx="1992572" cy="40011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SOP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3010" y="3912246"/>
            <a:ext cx="1828800" cy="40011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Gemini Model</a:t>
            </a:r>
            <a:endParaRPr lang="en-US" sz="20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56415" y="3880289"/>
            <a:ext cx="3543682" cy="40011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 err="1" smtClean="0">
                <a:latin typeface="Times New Roman" pitchFamily="18" charset="0"/>
                <a:cs typeface="Times New Roman" pitchFamily="18" charset="0"/>
              </a:rPr>
              <a:t>Generated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 MCQs</a:t>
            </a:r>
            <a:endParaRPr lang="en-US" sz="20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01003" y="4844955"/>
            <a:ext cx="2579428" cy="12003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INPUT: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 xml:space="preserve">Uploaded SOP PDF,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 xml:space="preserve">or pasted SOP text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from the institute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35773" y="4706455"/>
            <a:ext cx="2279175" cy="14773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MODEL: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Google Gemini writes questions, answer keys and explanations.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6770" y="4844955"/>
            <a:ext cx="2183642" cy="12003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OUTPUT:</a:t>
            </a:r>
          </a:p>
          <a:p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Generated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administrator reviews and edits.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224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5086" y="260124"/>
            <a:ext cx="10972800" cy="1143000"/>
          </a:xfrm>
        </p:spPr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Feasibility, Impact &amp; Deployment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2171" y="2148114"/>
            <a:ext cx="3512457" cy="4093029"/>
          </a:xfrm>
        </p:spPr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Established, well-documented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technologies (Django,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PostgreSQL). Modular design.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9429" y="2134306"/>
            <a:ext cx="3643086" cy="4151084"/>
          </a:xfrm>
        </p:spPr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Digital Staff Training.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Easy Resource Access.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Progress &amp; Achievement Tracking.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Digital Certificates.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Content Placeholder 3"/>
          <p:cNvSpPr txBox="1">
            <a:spLocks/>
          </p:cNvSpPr>
          <p:nvPr/>
        </p:nvSpPr>
        <p:spPr>
          <a:xfrm>
            <a:off x="4666343" y="1752604"/>
            <a:ext cx="3643086" cy="4713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86973" y="1611086"/>
            <a:ext cx="20029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Feasibility:</a:t>
            </a:r>
            <a:endParaRPr lang="en-US" sz="2800" b="1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69543" y="1611086"/>
            <a:ext cx="21045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Impact:</a:t>
            </a:r>
            <a:endParaRPr lang="en-US" sz="2800" b="1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380000" y="1590000"/>
            <a:ext cx="345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Deployed &amp; Verified:</a:t>
            </a:r>
            <a:endParaRPr lang="en-US" sz="2800" b="1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84457" y="2160000"/>
            <a:ext cx="3450000" cy="34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Live on cloud hosting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with CI/CD on every push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203 automated tests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0 known advisories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3 vulnerabilities found &amp; fixed</a:t>
            </a:r>
          </a:p>
        </p:txBody>
      </p:sp>
    </p:spTree>
    <p:extLst>
      <p:ext uri="{BB962C8B-B14F-4D97-AF65-F5344CB8AC3E}">
        <p14:creationId xmlns:p14="http://schemas.microsoft.com/office/powerpoint/2010/main" val="3140386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Why Our Solution?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Generic LMS: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General audience.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Standard experience.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Usually single language.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Separate tools.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Generic administration.</a:t>
            </a:r>
            <a:endParaRPr lang="en-US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8855" y="1491570"/>
            <a:ext cx="5389033" cy="639762"/>
          </a:xfrm>
        </p:spPr>
        <p:txBody>
          <a:bodyPr>
            <a:normAutofit/>
          </a:bodyPr>
          <a:lstStyle/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SRMS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Drona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:</a:t>
            </a:r>
            <a:endParaRPr lang="en-US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SRMS specific.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Mobile first.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Hindi + English language.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All in one tools.</a:t>
            </a:r>
          </a:p>
          <a:p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Role based administration.</a:t>
            </a:r>
            <a:endParaRPr lang="en-US" sz="28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6773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80113915-5B66-869B-3886-3094FCA84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1" y="933450"/>
            <a:ext cx="7048500" cy="499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084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1682</TotalTime>
  <Words>354</Words>
  <Application>Microsoft Office PowerPoint</Application>
  <PresentationFormat>Custom</PresentationFormat>
  <Paragraphs>94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PowerPoint Presentation</vt:lpstr>
      <vt:lpstr>Problem &amp; Real-World Need</vt:lpstr>
      <vt:lpstr>Our Proposed Solution</vt:lpstr>
      <vt:lpstr>How Our Solution Works</vt:lpstr>
      <vt:lpstr>Key Innovations &amp; USP</vt:lpstr>
      <vt:lpstr>System Architecture</vt:lpstr>
      <vt:lpstr>AI/ML Methodology</vt:lpstr>
      <vt:lpstr>Feasibility, Impact &amp; Scalability</vt:lpstr>
      <vt:lpstr>Why Our Solution?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Syeda Raazia</dc:creator>
  <cp:lastModifiedBy>Hp</cp:lastModifiedBy>
  <cp:revision>39</cp:revision>
  <dcterms:created xsi:type="dcterms:W3CDTF">2026-08-01T18:41:21Z</dcterms:created>
  <dcterms:modified xsi:type="dcterms:W3CDTF">2026-09-24T16:44:15Z</dcterms:modified>
</cp:coreProperties>
</file>